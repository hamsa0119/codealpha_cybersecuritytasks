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click this?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E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Hamsa  |  CodeAlpha Cyber Security Internship, Task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pretends to be someone you trust (a bank, a delivery company, your boss) so you hand over passwords, OTP codes or card details.</a:t>
            </a:r>
            <a:endParaRPr lang="en-US" sz="2000" dirty="0"/>
          </a:p>
        </p:txBody>
      </p:sp>
      <p:sp>
        <p:nvSpPr>
          <p:cNvPr id="4" name="box0"/>
          <p:cNvSpPr/>
          <p:nvPr/>
        </p:nvSpPr>
        <p:spPr>
          <a:xfrm>
            <a:off x="548640" y="292608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messages sent to many people</a:t>
            </a:r>
            <a:endParaRPr lang="en-US" sz="1300" dirty="0"/>
          </a:p>
        </p:txBody>
      </p:sp>
      <p:sp>
        <p:nvSpPr>
          <p:cNvPr id="7" name="box1"/>
          <p:cNvSpPr/>
          <p:nvPr/>
        </p:nvSpPr>
        <p:spPr>
          <a:xfrm>
            <a:off x="3291840" y="292608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and calls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urgent, link or number to act on</a:t>
            </a:r>
            <a:endParaRPr lang="en-US" sz="1300" dirty="0"/>
          </a:p>
        </p:txBody>
      </p:sp>
      <p:sp>
        <p:nvSpPr>
          <p:cNvPr id="10" name="box2"/>
          <p:cNvSpPr/>
          <p:nvPr/>
        </p:nvSpPr>
        <p:spPr>
          <a:xfrm>
            <a:off x="6035040" y="292608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real login pages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it reaches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C9D5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3898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posing as banks, shops or couriers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8046720" cy="0"/>
          </a:xfrm>
          <a:prstGeom prst="line">
            <a:avLst/>
          </a:prstGeom>
          <a:noFill/>
          <a:ln w="12700">
            <a:solidFill>
              <a:srgbClr val="C9D5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0848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one person, using their name or job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8046720" cy="0"/>
          </a:xfrm>
          <a:prstGeom prst="line">
            <a:avLst/>
          </a:prstGeom>
          <a:noFill/>
          <a:ln w="12700">
            <a:solidFill>
              <a:srgbClr val="C9D5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Smishing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7797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SMS version: a fee or alert with a link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8046720" cy="0"/>
          </a:xfrm>
          <a:prstGeom prst="line">
            <a:avLst/>
          </a:prstGeom>
          <a:noFill/>
          <a:ln w="12700">
            <a:solidFill>
              <a:srgbClr val="C9D5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Vishing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474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from "your bank" or "IT support"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8046720" cy="0"/>
          </a:xfrm>
          <a:prstGeom prst="line">
            <a:avLst/>
          </a:prstGeom>
          <a:noFill/>
          <a:ln w="12700">
            <a:solidFill>
              <a:srgbClr val="C9D5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69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websites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1696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real login pages that collect what you type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checklist</a:t>
            </a:r>
            <a:endParaRPr lang="en-US" sz="2800" dirty="0"/>
          </a:p>
        </p:txBody>
      </p:sp>
      <p:sp>
        <p:nvSpPr>
          <p:cNvPr id="3" name="chk0"/>
          <p:cNvSpPr/>
          <p:nvPr/>
        </p:nvSpPr>
        <p:spPr>
          <a:xfrm>
            <a:off x="548640" y="130759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280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full sender address right, not just the name?</a:t>
            </a:r>
            <a:endParaRPr lang="en-US" sz="1700" dirty="0"/>
          </a:p>
        </p:txBody>
      </p:sp>
      <p:sp>
        <p:nvSpPr>
          <p:cNvPr id="5" name="chk1"/>
          <p:cNvSpPr/>
          <p:nvPr/>
        </p:nvSpPr>
        <p:spPr>
          <a:xfrm>
            <a:off x="548640" y="181051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rush you to act now?</a:t>
            </a:r>
            <a:endParaRPr lang="en-US" sz="1700" dirty="0"/>
          </a:p>
        </p:txBody>
      </p:sp>
      <p:sp>
        <p:nvSpPr>
          <p:cNvPr id="7" name="chk2"/>
          <p:cNvSpPr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say "Dear Customer" instead of your name?</a:t>
            </a:r>
            <a:endParaRPr lang="en-US" sz="1700" dirty="0"/>
          </a:p>
        </p:txBody>
      </p:sp>
      <p:sp>
        <p:nvSpPr>
          <p:cNvPr id="9" name="chk3"/>
          <p:cNvSpPr/>
          <p:nvPr/>
        </p:nvSpPr>
        <p:spPr>
          <a:xfrm>
            <a:off x="548640" y="281635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788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spelling, blurry logo or strange layout?</a:t>
            </a:r>
            <a:endParaRPr lang="en-US" sz="1700" dirty="0"/>
          </a:p>
        </p:txBody>
      </p:sp>
      <p:sp>
        <p:nvSpPr>
          <p:cNvPr id="11" name="chk4"/>
          <p:cNvSpPr/>
          <p:nvPr/>
        </p:nvSpPr>
        <p:spPr>
          <a:xfrm>
            <a:off x="548640" y="331927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link or attachment (.zip, .exe, invoice)?</a:t>
            </a:r>
            <a:endParaRPr lang="en-US" sz="1700" dirty="0"/>
          </a:p>
        </p:txBody>
      </p:sp>
      <p:sp>
        <p:nvSpPr>
          <p:cNvPr id="13" name="chk5"/>
          <p:cNvSpPr/>
          <p:nvPr/>
        </p:nvSpPr>
        <p:spPr>
          <a:xfrm>
            <a:off x="548640" y="3822192"/>
            <a:ext cx="256032" cy="256032"/>
          </a:xfrm>
          <a:prstGeom prst="rect">
            <a:avLst/>
          </a:prstGeom>
          <a:solidFill>
            <a:srgbClr val="EEF3F0"/>
          </a:solidFill>
          <a:ln w="254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ask for a password, PIN or OTP?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even one? Stop and verify another way.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5 warning signs</a:t>
            </a:r>
            <a:endParaRPr lang="en-US" sz="2800" dirty="0"/>
          </a:p>
        </p:txBody>
      </p:sp>
      <p:sp>
        <p:nvSpPr>
          <p:cNvPr id="3" name="mail"/>
          <p:cNvSpPr/>
          <p:nvPr/>
        </p:nvSpPr>
        <p:spPr>
          <a:xfrm>
            <a:off x="548640" y="1188720"/>
            <a:ext cx="4937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highlight>
                  <a:srgbClr val="FFE06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service@paypa1-secure.com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highlight>
                  <a:srgbClr val="FFE06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URGENT: account closed in 24 hours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highlight>
                  <a:srgbClr val="FFE06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noticed unusual activity. Please confirm your identity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highlight>
                  <a:srgbClr val="FFE06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by sending your password and OTP code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highlight>
                  <a:srgbClr val="FFE06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http://paypa1-login.verify-now.top/secure</a:t>
            </a:r>
            <a:endParaRPr lang="en-US" sz="1300" dirty="0"/>
          </a:p>
        </p:txBody>
      </p:sp>
      <p:sp>
        <p:nvSpPr>
          <p:cNvPr id="5" name="dot0"/>
          <p:cNvSpPr/>
          <p:nvPr/>
        </p:nvSpPr>
        <p:spPr>
          <a:xfrm>
            <a:off x="5760720" y="1252728"/>
            <a:ext cx="347472" cy="347472"/>
          </a:xfrm>
          <a:prstGeom prst="ellipse">
            <a:avLst/>
          </a:prstGeom>
          <a:solidFill>
            <a:srgbClr val="C23B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6072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domain: paypa1 uses the number 1</a:t>
            </a:r>
            <a:endParaRPr lang="en-US" sz="1300" dirty="0"/>
          </a:p>
        </p:txBody>
      </p:sp>
      <p:sp>
        <p:nvSpPr>
          <p:cNvPr id="8" name="dot1"/>
          <p:cNvSpPr/>
          <p:nvPr/>
        </p:nvSpPr>
        <p:spPr>
          <a:xfrm>
            <a:off x="5760720" y="1929384"/>
            <a:ext cx="347472" cy="347472"/>
          </a:xfrm>
          <a:prstGeom prst="ellipse">
            <a:avLst/>
          </a:prstGeom>
          <a:solidFill>
            <a:srgbClr val="C23B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293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a deadline</a:t>
            </a:r>
            <a:endParaRPr lang="en-US" sz="1300" dirty="0"/>
          </a:p>
        </p:txBody>
      </p:sp>
      <p:sp>
        <p:nvSpPr>
          <p:cNvPr id="11" name="dot2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C23B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300" dirty="0"/>
          </a:p>
        </p:txBody>
      </p:sp>
      <p:sp>
        <p:nvSpPr>
          <p:cNvPr id="14" name="dot3"/>
          <p:cNvSpPr/>
          <p:nvPr/>
        </p:nvSpPr>
        <p:spPr>
          <a:xfrm>
            <a:off x="5760720" y="3282696"/>
            <a:ext cx="347472" cy="347472"/>
          </a:xfrm>
          <a:prstGeom prst="ellipse">
            <a:avLst/>
          </a:prstGeom>
          <a:solidFill>
            <a:srgbClr val="C23B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282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password and OTP</a:t>
            </a:r>
            <a:endParaRPr lang="en-US" sz="1300" dirty="0"/>
          </a:p>
        </p:txBody>
      </p:sp>
      <p:sp>
        <p:nvSpPr>
          <p:cNvPr id="17" name="dot4"/>
          <p:cNvSpPr/>
          <p:nvPr/>
        </p:nvSpPr>
        <p:spPr>
          <a:xfrm>
            <a:off x="5760720" y="3959352"/>
            <a:ext cx="347472" cy="347472"/>
          </a:xfrm>
          <a:prstGeom prst="ellipse">
            <a:avLst/>
          </a:prstGeom>
          <a:solidFill>
            <a:srgbClr val="C23B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6072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959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goes to a different site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web address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only means encrypted. The real domain is just before the first single /.</a:t>
            </a:r>
            <a:endParaRPr lang="en-US" sz="1600" dirty="0"/>
          </a:p>
        </p:txBody>
      </p:sp>
      <p:sp>
        <p:nvSpPr>
          <p:cNvPr id="4" name="url0"/>
          <p:cNvSpPr/>
          <p:nvPr/>
        </p:nvSpPr>
        <p:spPr>
          <a:xfrm>
            <a:off x="548640" y="1783080"/>
            <a:ext cx="3931920" cy="1188720"/>
          </a:xfrm>
          <a:prstGeom prst="rect">
            <a:avLst/>
          </a:prstGeom>
          <a:solidFill>
            <a:srgbClr val="FBE3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3B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https://secure-login.paypal.account-verify.com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Fake. Domain is account-verify.com</a:t>
            </a:r>
            <a:endParaRPr lang="en-US" sz="1300" dirty="0"/>
          </a:p>
        </p:txBody>
      </p:sp>
      <p:sp>
        <p:nvSpPr>
          <p:cNvPr id="7" name="url1"/>
          <p:cNvSpPr/>
          <p:nvPr/>
        </p:nvSpPr>
        <p:spPr>
          <a:xfrm>
            <a:off x="4663440" y="1783080"/>
            <a:ext cx="3931920" cy="1188720"/>
          </a:xfrm>
          <a:prstGeom prst="rect">
            <a:avLst/>
          </a:prstGeom>
          <a:solidFill>
            <a:srgbClr val="DDF1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7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https://www.paypal.com/signin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Real. Domain is paypal.com</a:t>
            </a:r>
            <a:endParaRPr lang="en-US" sz="1300" dirty="0"/>
          </a:p>
        </p:txBody>
      </p:sp>
      <p:sp>
        <p:nvSpPr>
          <p:cNvPr id="10" name="url2"/>
          <p:cNvSpPr/>
          <p:nvPr/>
        </p:nvSpPr>
        <p:spPr>
          <a:xfrm>
            <a:off x="548640" y="3200400"/>
            <a:ext cx="3931920" cy="1188720"/>
          </a:xfrm>
          <a:prstGeom prst="rect">
            <a:avLst/>
          </a:prstGeom>
          <a:solidFill>
            <a:srgbClr val="FBE3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3B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https://arnazon.com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Fake. "rn" looks like "m"</a:t>
            </a:r>
            <a:endParaRPr lang="en-US" sz="1300" dirty="0"/>
          </a:p>
        </p:txBody>
      </p:sp>
      <p:sp>
        <p:nvSpPr>
          <p:cNvPr id="13" name="url3"/>
          <p:cNvSpPr/>
          <p:nvPr/>
        </p:nvSpPr>
        <p:spPr>
          <a:xfrm>
            <a:off x="4663440" y="3200400"/>
            <a:ext cx="3931920" cy="1188720"/>
          </a:xfrm>
          <a:prstGeom prst="rect">
            <a:avLst/>
          </a:prstGeom>
          <a:solidFill>
            <a:srgbClr val="DDF1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7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https://www.amazon.com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psychology behind it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Tactic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sounds like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to do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"Reply within 1 hour or lose access."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services give you time. Verify.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"Suspicious login on your account."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official app yourself.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message from your boss, bank or police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them on a number you have.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won! Pay a small fee."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cannot win what you never entered.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5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 this you in this photo?"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open unexpected links.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looks like in real life</a:t>
            </a:r>
            <a:endParaRPr lang="en-US" sz="2800" dirty="0"/>
          </a:p>
        </p:txBody>
      </p:sp>
      <p:sp>
        <p:nvSpPr>
          <p:cNvPr id="3" name="sms0"/>
          <p:cNvSpPr/>
          <p:nvPr/>
        </p:nvSpPr>
        <p:spPr>
          <a:xfrm>
            <a:off x="548640" y="1234440"/>
            <a:ext cx="3840480" cy="777240"/>
          </a:xfrm>
          <a:prstGeom prst="roundRect">
            <a:avLst>
              <a:gd name="adj" fmla="val 23529"/>
            </a:avLst>
          </a:prstGeom>
          <a:solidFill>
            <a:srgbClr val="E5E7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parcel is on hold. Pay a small fee here: short-link.example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30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fee scam. Use the courier's official app.</a:t>
            </a:r>
            <a:endParaRPr lang="en-US" sz="1250" dirty="0"/>
          </a:p>
        </p:txBody>
      </p:sp>
      <p:sp>
        <p:nvSpPr>
          <p:cNvPr id="6" name="sms1"/>
          <p:cNvSpPr/>
          <p:nvPr/>
        </p:nvSpPr>
        <p:spPr>
          <a:xfrm>
            <a:off x="4663440" y="1234440"/>
            <a:ext cx="3840480" cy="777240"/>
          </a:xfrm>
          <a:prstGeom prst="roundRect">
            <a:avLst>
              <a:gd name="adj" fmla="val 23529"/>
            </a:avLst>
          </a:prstGeom>
          <a:solidFill>
            <a:srgbClr val="E5E7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is blocked. Reply with your OTP to unlock.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130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alert scam. Banks never ask for your OTP.</a:t>
            </a:r>
            <a:endParaRPr lang="en-US" sz="1250" dirty="0"/>
          </a:p>
        </p:txBody>
      </p:sp>
      <p:sp>
        <p:nvSpPr>
          <p:cNvPr id="9" name="sms2"/>
          <p:cNvSpPr/>
          <p:nvPr/>
        </p:nvSpPr>
        <p:spPr>
          <a:xfrm>
            <a:off x="548640" y="2926080"/>
            <a:ext cx="3840480" cy="777240"/>
          </a:xfrm>
          <a:prstGeom prst="roundRect">
            <a:avLst>
              <a:gd name="adj" fmla="val 23529"/>
            </a:avLst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You won a gift voucher. Claim today.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22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scam. You never entered; the deadline rushes you.</a:t>
            </a:r>
            <a:endParaRPr lang="en-US" sz="1250" dirty="0"/>
          </a:p>
        </p:txBody>
      </p:sp>
      <p:sp>
        <p:nvSpPr>
          <p:cNvPr id="12" name="sms3"/>
          <p:cNvSpPr/>
          <p:nvPr/>
        </p:nvSpPr>
        <p:spPr>
          <a:xfrm>
            <a:off x="4663440" y="2926080"/>
            <a:ext cx="3840480" cy="777240"/>
          </a:xfrm>
          <a:prstGeom prst="roundRect">
            <a:avLst>
              <a:gd name="adj" fmla="val 23529"/>
            </a:avLst>
          </a:prstGeom>
          <a:solidFill>
            <a:srgbClr val="E5E7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in a meeting. Buy gift cards and send me the codes. Quick.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822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impersonation. Confirm by phone first.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are typical scenarios. Names and links are made up.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yourself</a:t>
            </a:r>
            <a:endParaRPr lang="en-US" sz="2800" dirty="0"/>
          </a:p>
        </p:txBody>
      </p:sp>
      <p:sp>
        <p:nvSpPr>
          <p:cNvPr id="3" name="bar0"/>
          <p:cNvSpPr/>
          <p:nvPr/>
        </p:nvSpPr>
        <p:spPr>
          <a:xfrm>
            <a:off x="548640" y="1234440"/>
            <a:ext cx="3840480" cy="73152"/>
          </a:xfrm>
          <a:prstGeom prst="rect">
            <a:avLst/>
          </a:prstGeom>
          <a:solidFill>
            <a:srgbClr val="0B5D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verify another way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two-factor authentication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phone and apps updated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500" dirty="0"/>
          </a:p>
        </p:txBody>
      </p:sp>
      <p:sp>
        <p:nvSpPr>
          <p:cNvPr id="6" name="bar1"/>
          <p:cNvSpPr/>
          <p:nvPr/>
        </p:nvSpPr>
        <p:spPr>
          <a:xfrm>
            <a:off x="4754880" y="1234440"/>
            <a:ext cx="3840480" cy="73152"/>
          </a:xfrm>
          <a:prstGeom prst="rect">
            <a:avLst/>
          </a:prstGeom>
          <a:solidFill>
            <a:srgbClr val="C23B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3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659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unexpected links or attachments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OTPs, PINs or passwords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 message because it looks official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through a link someone sent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one password everywhere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already clicked</a:t>
            </a:r>
            <a:endParaRPr lang="en-US" sz="2800" dirty="0"/>
          </a:p>
        </p:txBody>
      </p:sp>
      <p:sp>
        <p:nvSpPr>
          <p:cNvPr id="3" name="n0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B5D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07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panic. Disconnect if you downloaded a file.</a:t>
            </a:r>
            <a:endParaRPr lang="en-US" sz="1700" dirty="0"/>
          </a:p>
        </p:txBody>
      </p:sp>
      <p:sp>
        <p:nvSpPr>
          <p:cNvPr id="6" name="n1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B5D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476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password on the real site, and anywhere you reused it.</a:t>
            </a:r>
            <a:endParaRPr lang="en-US" sz="1700" dirty="0"/>
          </a:p>
        </p:txBody>
      </p:sp>
      <p:sp>
        <p:nvSpPr>
          <p:cNvPr id="9" name="n2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0B5D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87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bank if you entered card details.</a:t>
            </a:r>
            <a:endParaRPr lang="en-US" sz="1700" dirty="0"/>
          </a:p>
        </p:txBody>
      </p:sp>
      <p:sp>
        <p:nvSpPr>
          <p:cNvPr id="12" name="n3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0B5D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27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antivirus scan.</a:t>
            </a:r>
            <a:endParaRPr lang="en-US" sz="1700" dirty="0"/>
          </a:p>
        </p:txBody>
      </p:sp>
      <p:sp>
        <p:nvSpPr>
          <p:cNvPr id="15" name="n4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0B5D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67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to your IT team or the company being imitated.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time (part 1)</a:t>
            </a:r>
            <a:endParaRPr lang="en-US" sz="2800" dirty="0"/>
          </a:p>
        </p:txBody>
      </p:sp>
      <p:sp>
        <p:nvSpPr>
          <p:cNvPr id="3" name="q0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sender is suspicious?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support@amazon.com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support@amaz0n-help.com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no-reply@amazon.com</a:t>
            </a:r>
            <a:endParaRPr lang="en-US" sz="1150" dirty="0"/>
          </a:p>
        </p:txBody>
      </p:sp>
      <p:sp>
        <p:nvSpPr>
          <p:cNvPr id="5" name="q1"/>
          <p:cNvSpPr/>
          <p:nvPr/>
        </p:nvSpPr>
        <p:spPr>
          <a:xfrm>
            <a:off x="4663440" y="118872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Bank SMS: "Share your OTP to unlock your card."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Share it quickly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Reply STOP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Ignore it, call the number on your card</a:t>
            </a:r>
            <a:endParaRPr lang="en-US" sz="1150" dirty="0"/>
          </a:p>
        </p:txBody>
      </p:sp>
      <p:sp>
        <p:nvSpPr>
          <p:cNvPr id="7" name="q2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site with HTTPS and a padlock is always safe.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True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False</a:t>
            </a:r>
            <a:endParaRPr lang="en-US" sz="1150" dirty="0"/>
          </a:p>
        </p:txBody>
      </p:sp>
      <p:sp>
        <p:nvSpPr>
          <p:cNvPr id="9" name="q3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"Reply within 1 hour or your account is deleted." Which tactic?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Urgency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Curiosity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Authority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time (part 2)</a:t>
            </a:r>
            <a:endParaRPr lang="en-US" sz="2800" dirty="0"/>
          </a:p>
        </p:txBody>
      </p:sp>
      <p:sp>
        <p:nvSpPr>
          <p:cNvPr id="3" name="q4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Unexpected invoice.zip arrives. Safest action?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Open it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Forward it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Do not open; verify with the sender</a:t>
            </a:r>
            <a:endParaRPr lang="en-US" sz="1150" dirty="0"/>
          </a:p>
        </p:txBody>
      </p:sp>
      <p:sp>
        <p:nvSpPr>
          <p:cNvPr id="5" name="q5"/>
          <p:cNvSpPr/>
          <p:nvPr/>
        </p:nvSpPr>
        <p:spPr>
          <a:xfrm>
            <a:off x="4663440" y="118872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Real login page for example.com?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example.com.login-secure.net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login.example.com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example-com.verify.co</a:t>
            </a:r>
            <a:endParaRPr lang="en-US" sz="1150" dirty="0"/>
          </a:p>
        </p:txBody>
      </p:sp>
      <p:sp>
        <p:nvSpPr>
          <p:cNvPr id="7" name="q6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 colleague urgently asks for gift cards.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Normal request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Possible impersonation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Software update</a:t>
            </a:r>
            <a:endParaRPr lang="en-US" sz="1150" dirty="0"/>
          </a:p>
        </p:txBody>
      </p:sp>
      <p:sp>
        <p:nvSpPr>
          <p:cNvPr id="9" name="q7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Best protection if your password is stolen?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Longer signature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Two-factor authentication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Clear history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answers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 replaces the letter 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never ask for your OTP.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encrypts the connection.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is the classic trick.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can carry malware.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 example.com; login is a subdomain.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by phone or in person.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password alone is not enough.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5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Pause. Verify. Then click.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E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sender. Read the domain. Never share OTPs. Turn on two-factor authentication.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Hamsa  |  CodeAlpha Cyber Security Internship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Hamsa</dc:creator>
  <cp:lastModifiedBy>Hamsa</cp:lastModifiedBy>
  <cp:revision>1</cp:revision>
  <dcterms:created xsi:type="dcterms:W3CDTF">2026-10-20T08:51:31Z</dcterms:created>
  <dcterms:modified xsi:type="dcterms:W3CDTF">2026-10-20T08:51:31Z</dcterms:modified>
</cp:coreProperties>
</file>